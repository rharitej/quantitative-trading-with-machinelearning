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5AA0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26"/>
            <a:ext cx="10566400" cy="448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5AA0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26"/>
            <a:ext cx="10566400" cy="448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12649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UE24CS352A · MACHINE LEARNING MINI-PROJECT · PES UNIVERSITY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84149"/>
            <a:ext cx="10883392" cy="1254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Quantitative Trading with Machine Learning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018251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9D3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Predicting Volkswagen returns from supply-chain dynamics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67865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Rottela Haritej (PES1UG24AM231) · Pradyun P Urs (PES1UG24AM195) · October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Motivation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01"/>
            <a:ext cx="3380293" cy="1420163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418" y="1823244"/>
            <a:ext cx="2955488" cy="29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Efficient markets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418" y="2199121"/>
            <a:ext cx="295548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EMH says prices absorb all public information instantly.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18" y="1567801"/>
            <a:ext cx="3380365" cy="1420163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261" y="1823244"/>
            <a:ext cx="2955563" cy="29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Supply-chain lag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1261" y="2199121"/>
            <a:ext cx="295556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Shocks may diffuse from suppliers to OEMs with a delay.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733" y="1567801"/>
            <a:ext cx="3380293" cy="1420163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175" y="1823244"/>
            <a:ext cx="2955488" cy="29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Beyond Just-in-Time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1175" y="2199121"/>
            <a:ext cx="295548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Supplier health could act as a lead-lag indicator for carmakers.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98"/>
            <a:ext cx="338838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UE24CS352A · Quant Trading with ML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AA0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625"/>
            <a:ext cx="10883392" cy="80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 lagged returns of Volkswagen’s suppliers and macro proxies predict VOW3.DE returns over 1, 5 and 20 trading days?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2396" y="2651630"/>
            <a:ext cx="10806176" cy="9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4404" indent="-184404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Five ML regressors vs a zero-return baseline</a:t>
            </a:r>
            <a:endParaRPr lang="en-US" sz="1700" dirty="0"/>
          </a:p>
          <a:p>
            <a:pPr algn="l" marL="184404" indent="-184404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Backtests with transaction costs</a:t>
            </a:r>
            <a:endParaRPr lang="en-US" sz="1700" dirty="0"/>
          </a:p>
          <a:p>
            <a:pPr algn="l" marL="184404" indent="-184404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Audit for temporal leakage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238298"/>
            <a:ext cx="338838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UE24CS352A · Quant Trading with ML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Dataset and asset universe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627"/>
            <a:ext cx="3488242" cy="878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2,797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2468852"/>
            <a:ext cx="348824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synchronized trading days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402643" y="1564627"/>
            <a:ext cx="3488316" cy="878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402643" y="2468852"/>
            <a:ext cx="34883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retained series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92558" y="1564627"/>
            <a:ext cx="3488242" cy="878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2015–26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992558" y="2468852"/>
            <a:ext cx="348824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Yahoo Finance, auto-adjusted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5975" y="3043527"/>
            <a:ext cx="3380293" cy="1633393"/>
          </a:xfrm>
          <a:prstGeom prst="roundRect">
            <a:avLst>
              <a:gd name="adj" fmla="val 60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1418" y="3298971"/>
            <a:ext cx="2955488" cy="29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1418" y="3674847"/>
            <a:ext cx="2955488" cy="274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VOW3.DE (Volkswagen pref.)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05818" y="3043527"/>
            <a:ext cx="3380365" cy="1633393"/>
          </a:xfrm>
          <a:prstGeom prst="roundRect">
            <a:avLst>
              <a:gd name="adj" fmla="val 60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1261" y="3298971"/>
            <a:ext cx="2955563" cy="29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Suppliers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1261" y="3674847"/>
            <a:ext cx="2955563" cy="772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Continental, Schaeffler, Valeo, Infineon, BASF, Michelin, ElringKlinger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95733" y="3043527"/>
            <a:ext cx="3380293" cy="1633393"/>
          </a:xfrm>
          <a:prstGeom prst="roundRect">
            <a:avLst>
              <a:gd name="adj" fmla="val 60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1175" y="3298971"/>
            <a:ext cx="2955488" cy="29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Macro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51175" y="3674847"/>
            <a:ext cx="2955488" cy="274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DAX 40 and EUR/USD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98"/>
            <a:ext cx="338838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UE24CS352A · Quant Trading with ML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AA0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cleaning protocol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02"/>
            <a:ext cx="3380293" cy="1953563"/>
          </a:xfrm>
          <a:prstGeom prst="roundRect">
            <a:avLst>
              <a:gd name="adj" fmla="val 5038"/>
            </a:avLst>
          </a:prstGeom>
          <a:solidFill>
            <a:srgbClr val="18283F"/>
          </a:solidFill>
          <a:ln w="6350">
            <a:solidFill>
              <a:srgbClr val="2A3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418" y="1823244"/>
            <a:ext cx="2955488" cy="29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IPO cutoff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418" y="2199122"/>
            <a:ext cx="29554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Series without prices before 2016-01-04 are excluded. Knorr-Bremse (KBX.DE, IPO 2018) dropped, no fake returns.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18" y="1567802"/>
            <a:ext cx="3380365" cy="1953563"/>
          </a:xfrm>
          <a:prstGeom prst="roundRect">
            <a:avLst>
              <a:gd name="adj" fmla="val 5038"/>
            </a:avLst>
          </a:prstGeom>
          <a:solidFill>
            <a:srgbClr val="18283F"/>
          </a:solidFill>
          <a:ln w="6350">
            <a:solidFill>
              <a:srgbClr val="2A3D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261" y="1823244"/>
            <a:ext cx="2955563" cy="29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Calendar alignment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1261" y="2199122"/>
            <a:ext cx="295556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Aligned to the Xetra calendar; holiday gaps forward-filled up to 5 days.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733" y="1567802"/>
            <a:ext cx="3380293" cy="1953563"/>
          </a:xfrm>
          <a:prstGeom prst="roundRect">
            <a:avLst>
              <a:gd name="adj" fmla="val 5038"/>
            </a:avLst>
          </a:prstGeom>
          <a:solidFill>
            <a:srgbClr val="18283F"/>
          </a:solidFill>
          <a:ln w="6350">
            <a:solidFill>
              <a:srgbClr val="2A3D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175" y="1823244"/>
            <a:ext cx="2955488" cy="29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Async fixings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1175" y="2199122"/>
            <a:ext cx="295548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EUR/USD closes after Frankfurt, so it enters from lag 1 only.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98"/>
            <a:ext cx="338838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UE24CS352A · Quant Trading with ML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627"/>
            <a:ext cx="3488242" cy="878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2468851"/>
            <a:ext cx="348824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402643" y="1564627"/>
            <a:ext cx="3488316" cy="878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× 5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402643" y="2468851"/>
            <a:ext cx="34883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lagged daily returns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92558" y="1564627"/>
            <a:ext cx="3488242" cy="878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 50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992558" y="2468851"/>
            <a:ext cx="348824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3040351"/>
            <a:ext cx="10883392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Feature: r(k,t-l) = P(k,t-l) / P(k,t-l-1) − 1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Target: y(t,t+h) = P(t+h) / P(t) − 1, with h ∈ {1, 5, 20}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2800" y="6238298"/>
            <a:ext cx="338838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UE24CS352A · Quant Trading with ML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AA0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Candidate models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02"/>
            <a:ext cx="3380293" cy="1420163"/>
          </a:xfrm>
          <a:prstGeom prst="roundRect">
            <a:avLst>
              <a:gd name="adj" fmla="val 6931"/>
            </a:avLst>
          </a:prstGeom>
          <a:solidFill>
            <a:srgbClr val="18283F"/>
          </a:solidFill>
          <a:ln w="6350">
            <a:solidFill>
              <a:srgbClr val="2A3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418" y="1823244"/>
            <a:ext cx="2955488" cy="29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Baselines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418" y="2199122"/>
            <a:ext cx="295548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Zero-return random walk; OLS with StandardScaler.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18" y="1567802"/>
            <a:ext cx="3380365" cy="1420163"/>
          </a:xfrm>
          <a:prstGeom prst="roundRect">
            <a:avLst>
              <a:gd name="adj" fmla="val 6931"/>
            </a:avLst>
          </a:prstGeom>
          <a:solidFill>
            <a:srgbClr val="18283F"/>
          </a:solidFill>
          <a:ln w="6350">
            <a:solidFill>
              <a:srgbClr val="2A3D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261" y="1823244"/>
            <a:ext cx="2955563" cy="29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Elastic Net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1261" y="2199122"/>
            <a:ext cx="295556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L1 + L2 penalty to handle multicollinear suppliers.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733" y="1567802"/>
            <a:ext cx="3380293" cy="1420163"/>
          </a:xfrm>
          <a:prstGeom prst="roundRect">
            <a:avLst>
              <a:gd name="adj" fmla="val 6931"/>
            </a:avLst>
          </a:prstGeom>
          <a:solidFill>
            <a:srgbClr val="18283F"/>
          </a:solidFill>
          <a:ln w="6350">
            <a:solidFill>
              <a:srgbClr val="2A3D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175" y="1823244"/>
            <a:ext cx="2955488" cy="29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Trees and boosting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1175" y="2199122"/>
            <a:ext cx="295548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 Tree (depth 2/3/5, leaf 20/50), XGBoost, LightGBM.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98"/>
            <a:ext cx="338838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UE24CS352A · Quant Trading with ML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Leak-free validation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036" y="1573863"/>
          <a:ext cx="10557164" cy="2828925"/>
        </p:xfrm>
        <a:graphic>
          <a:graphicData uri="http://schemas.openxmlformats.org/drawingml/2006/table">
            <a:tbl>
              <a:tblPr/>
              <a:tblGrid>
                <a:gridCol w="5278582"/>
                <a:gridCol w="5278582"/>
              </a:tblGrid>
              <a:tr h="47148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Component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Setting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Initial train window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1,260 days (~5 years), expanding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Validation window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252 days for tuning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Test block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21 days, 61 walk-forward windows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Embargo gap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 days between train, validation and test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Holdout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Final ~1 year, untouched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707589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Perturbation audit: corrupting future data left predictions bit-identical (atol 1e-12).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12800" y="6238298"/>
            <a:ext cx="338838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UE24CS352A · Quant Trading with ML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AA0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68934" y="1564630"/>
            <a:ext cx="10819638" cy="173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 close t, forecast the h-day return ŷ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ŷ &gt; +c: long · ŷ &lt; −c: short · otherwise hold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Position earns the next day’s return (t+1)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Start €1,000; 0.1% cost on entries, flips, final exit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Threshold c chosen on development data only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6238298"/>
            <a:ext cx="3388389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UE24CS352A · Quant Trading with ML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Prediction accuracy (holdout, h = 1)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036" y="1573866"/>
          <a:ext cx="10557164" cy="3300413"/>
        </p:xfrm>
        <a:graphic>
          <a:graphicData uri="http://schemas.openxmlformats.org/drawingml/2006/table">
            <a:tbl>
              <a:tblPr/>
              <a:tblGrid>
                <a:gridCol w="2639291"/>
                <a:gridCol w="2639291"/>
                <a:gridCol w="2639291"/>
                <a:gridCol w="2639291"/>
              </a:tblGrid>
              <a:tr h="47148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Model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RMSE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OOS R²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Dir. acc.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Zero baseline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0.0189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0.000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–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Elastic Net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0.0189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−0.003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46.5%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LightGBM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0.0190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−0.007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56.8%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Decision Tree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0.0191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−0.023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46.5%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XGBoost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0.0192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−0.027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50.2%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Linear Regression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0.0196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−0.077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45.8%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98"/>
            <a:ext cx="3490133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UE24CS352A · Quant Trading with ML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AA0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results (0.1% cost)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036" y="1573866"/>
          <a:ext cx="10557164" cy="3584864"/>
        </p:xfrm>
        <a:graphic>
          <a:graphicData uri="http://schemas.openxmlformats.org/drawingml/2006/table">
            <a:tbl>
              <a:tblPr/>
              <a:tblGrid>
                <a:gridCol w="1759527"/>
                <a:gridCol w="1759527"/>
                <a:gridCol w="1759527"/>
                <a:gridCol w="1759527"/>
                <a:gridCol w="1759527"/>
                <a:gridCol w="1759527"/>
              </a:tblGrid>
              <a:tr h="47148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Strategy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Net profit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Trades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Sharpe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Buy &amp; Hold VW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–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−28.61%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−0.89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Decision Tree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0.50%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+23.97%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12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0.86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939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Linear Regression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1.00%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+21.30%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8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0.77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LightGBM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0.50%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+14.56%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23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0.59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Elastic Net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0.50%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0.00% (cash)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0.00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Elastic Net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20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0.50%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−7.88%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F4F1E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−0.13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98"/>
            <a:ext cx="3476538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UE24CS352A · Quant Trading with ML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Selected model and latest signal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05"/>
            <a:ext cx="3380293" cy="1686863"/>
          </a:xfrm>
          <a:prstGeom prst="roundRect">
            <a:avLst>
              <a:gd name="adj" fmla="val 5835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418" y="1823244"/>
            <a:ext cx="2955488" cy="29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Elastic Net, h =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418" y="2199122"/>
            <a:ext cx="295548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α_rel 0.1, l1_ratio 0.9; lowest development RMSE vs zero baseline, holdout untouched.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18" y="1567805"/>
            <a:ext cx="3380365" cy="1686863"/>
          </a:xfrm>
          <a:prstGeom prst="roundRect">
            <a:avLst>
              <a:gd name="adj" fmla="val 5835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261" y="1823244"/>
            <a:ext cx="2955563" cy="29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Training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1261" y="2199122"/>
            <a:ext cx="295556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2,790 rows, trained through 2026-10-08.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733" y="1567805"/>
            <a:ext cx="3380293" cy="1686863"/>
          </a:xfrm>
          <a:prstGeom prst="roundRect">
            <a:avLst>
              <a:gd name="adj" fmla="val 5835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175" y="1823244"/>
            <a:ext cx="2955488" cy="29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Latest signal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1175" y="2199122"/>
            <a:ext cx="295548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 date 2026-10-09: predicted return +0.03%, signal LONG.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98"/>
            <a:ext cx="3490133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UE24CS352A · Quant Trading with ML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1252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200" b="1" i="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model beats the zero baseline in holdout RMSE.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12800" y="2344310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9D3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R² is slightly negative at every horizon. LightGBM’s 56.8% directional accuracy does not translate into lower point error.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6238298"/>
            <a:ext cx="3490133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UE24CS352A · Quant Trading with ML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05"/>
            <a:ext cx="3380293" cy="1420163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418" y="1823244"/>
            <a:ext cx="2955488" cy="29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Regime sensitivity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418" y="2199122"/>
            <a:ext cx="295548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Profits came during a −28.6% VW bear market.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18" y="1567805"/>
            <a:ext cx="3380365" cy="1420163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261" y="1823244"/>
            <a:ext cx="2955563" cy="29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Few trades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1261" y="2199122"/>
            <a:ext cx="295556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and 12 trades in one 1-year holdout.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733" y="1567805"/>
            <a:ext cx="3380293" cy="1420163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175" y="1823244"/>
            <a:ext cx="2955488" cy="29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 window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1175" y="2199122"/>
            <a:ext cx="295548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holdout cannot prove a robust trading system.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98"/>
            <a:ext cx="3490133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UE24CS352A · Quant Trading with ML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AA0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68934" y="1564630"/>
            <a:ext cx="1081963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Supplier and market returns fit a leak-aware forecasting framework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Models match but do not beat a random walk on RMSE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Threshold strategies preserved capital in one bear market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4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Next: test across multiple economic cycles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3241030"/>
            <a:ext cx="10883392" cy="416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Thank you. Questions?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6238298"/>
            <a:ext cx="3490133" cy="23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UE24CS352A · Quant Trading with ML · 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 Trading ML – VW Returns from Supply Chain">
  <a:themeElements>
    <a:clrScheme name="Quant Trading ML – VW Returns from Supply Chain">
      <a:dk1>
        <a:srgbClr val="0F1B2D"/>
      </a:dk1>
      <a:lt1>
        <a:srgbClr val="F4F1EA"/>
      </a:lt1>
      <a:dk2>
        <a:srgbClr val="263040"/>
      </a:dk2>
      <a:lt2>
        <a:srgbClr val="BBBCBB"/>
      </a:lt2>
      <a:accent1>
        <a:srgbClr val="E8833A"/>
      </a:accent1>
      <a:accent2>
        <a:srgbClr val="5AA0E0"/>
      </a:accent2>
      <a:accent3>
        <a:srgbClr val="9AA8BD"/>
      </a:accent3>
      <a:accent4>
        <a:srgbClr val="6A7179"/>
      </a:accent4>
      <a:accent5>
        <a:srgbClr val="C9D3E3"/>
      </a:accent5>
      <a:accent6>
        <a:srgbClr val="9AA0A6"/>
      </a:accent6>
      <a:hlink>
        <a:srgbClr val="0563C1"/>
      </a:hlink>
      <a:folHlink>
        <a:srgbClr val="954F72"/>
      </a:folHlink>
    </a:clrScheme>
    <a:fontScheme name="Quant Trading ML – VW Returns from Supply Chain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 Trading ML – VW Returns from Supply Chain</dc:title>
  <dc:subject/>
  <dc:creator/>
  <cp:lastModifiedBy/>
  <cp:revision>1</cp:revision>
  <dcterms:created xsi:type="dcterms:W3CDTF">2026-10-13T07:59:21Z</dcterms:created>
  <dcterms:modified xsi:type="dcterms:W3CDTF">2026-10-13T07:59:21Z</dcterms:modified>
</cp:coreProperties>
</file>